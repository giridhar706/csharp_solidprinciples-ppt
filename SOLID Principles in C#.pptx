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fntdata" ContentType="application/x-fontdata"/>
  <Default Extension="png" ContentType="image/png"/>
  <Default Extension="gif" ContentType="image/gif"/>
  <Default Extension="m4v" ContentType="video/mp4"/>
  <Default Extension="mp4" ContentType="video/mp4"/>
  <Default Extension="svg" ContentType="image/svg+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embeddedFontLst>
    <p:embeddedFont>
      <p:font typeface="Rakkas"/>
      <p:regular r:id="rId21"/>
    </p:embeddedFont>
    <p:embeddedFont>
      <p:font typeface="Karla"/>
      <p:boldItalic r:id="rId22"/>
      <p:regular r:id="rId23"/>
      <p:italic r:id="rId24"/>
      <p:bold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Rakkas-regular.fntdata"/><Relationship Id="rId22" Type="http://schemas.openxmlformats.org/officeDocument/2006/relationships/font" Target="fonts/Karla-boldItalic.fntdata"/><Relationship Id="rId23" Type="http://schemas.openxmlformats.org/officeDocument/2006/relationships/font" Target="fonts/Karla-regular.fntdata"/><Relationship Id="rId24" Type="http://schemas.openxmlformats.org/officeDocument/2006/relationships/font" Target="fonts/Karla-italic.fntdata"/><Relationship Id="rId25" Type="http://schemas.openxmlformats.org/officeDocument/2006/relationships/font" Target="fonts/Karla-bold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hyperlink" Target="https://pitch.com?utm_medium=product-presentation&amp;utm_source=powerpoint-export&amp;utm_campaign=bottom_bar_cta&amp;utm_content=e465372d-c39c-4dac-a749-cc461c19a0ff&amp;utm_term=PDF-PPTX-lastslide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hyperlink" Target="https://pitch.com?utm_medium=product-presentation&amp;utm_source=powerpoint-export&amp;utm_campaign=bottom_bar_cta&amp;utm_content=e465372d-c39c-4dac-a749-cc461c19a0ff&amp;utm_term=PDF-PPTX-lastslide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hyperlink" Target="https://pitch.com?utm_medium=product-presentation&amp;utm_source=powerpoint-export&amp;utm_campaign=bottom_bar_cta&amp;utm_content=e465372d-c39c-4dac-a749-cc461c19a0ff&amp;utm_term=PDF-PPTX-lastslide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hyperlink" Target="https://pitch.com?utm_medium=product-presentation&amp;utm_source=powerpoint-export&amp;utm_campaign=bottom_bar_cta&amp;utm_content=e465372d-c39c-4dac-a749-cc461c19a0ff&amp;utm_term=PDF-PPTX-lastslide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hyperlink" Target="https://pitch.com?utm_medium=product-presentation&amp;utm_source=powerpoint-export&amp;utm_campaign=bottom_bar_cta&amp;utm_content=e465372d-c39c-4dac-a749-cc461c19a0ff&amp;utm_term=PDF-PPTX-lastslide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hyperlink" Target="https://pitch.com?utm_medium=product-presentation&amp;utm_source=powerpoint-export&amp;utm_campaign=bottom_bar_cta&amp;utm_content=e465372d-c39c-4dac-a749-cc461c19a0ff&amp;utm_term=PDF-PPTX-lastslide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hyperlink" Target="https://pitch.com?utm_medium=product-presentation&amp;utm_source=powerpoint-export&amp;utm_campaign=bottom_bar_cta&amp;utm_content=e465372d-c39c-4dac-a749-cc461c19a0ff&amp;utm_term=PDF-PPTX-lastslide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hyperlink" Target="https://pitch.com?utm_medium=product-presentation&amp;utm_source=powerpoint-export&amp;utm_campaign=bottom_bar_cta&amp;utm_content=e465372d-c39c-4dac-a749-cc461c19a0ff&amp;utm_term=PDF-PPTX-lastslide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pitch.com?utm_medium=product-presentation&amp;utm_source=powerpoint-export&amp;utm_campaign=bottom_bar_cta&amp;utm_content=e465372d-c39c-4dac-a749-cc461c19a0ff&amp;utm_term=PDF-PPTX-lastslide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pitch.com?utm_medium=product-presentation&amp;utm_source=powerpoint-export&amp;utm_campaign=bottom_bar_cta&amp;utm_content=e465372d-c39c-4dac-a749-cc461c19a0ff&amp;utm_term=PDF-PPTX-lastslide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pitch.com?utm_medium=product-presentation&amp;utm_source=powerpoint-export&amp;utm_campaign=bottom_bar_cta&amp;utm_content=e465372d-c39c-4dac-a749-cc461c19a0ff&amp;utm_term=PDF-PPTX-lastslide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hyperlink" Target="https://pitch.com?utm_medium=product-presentation&amp;utm_source=powerpoint-export&amp;utm_campaign=bottom_bar_cta&amp;utm_content=e465372d-c39c-4dac-a749-cc461c19a0ff&amp;utm_term=PDF-PPTX-lastslide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hyperlink" Target="https://pitch.com?utm_medium=product-presentation&amp;utm_source=powerpoint-export&amp;utm_campaign=bottom_bar_cta&amp;utm_content=e465372d-c39c-4dac-a749-cc461c19a0ff&amp;utm_term=PDF-PPTX-lastslide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itch.com/?utm_medium=product-presentation&amp;utm_source=powerpoint-export&amp;utm_campaign=last_slide&amp;utm_content=" TargetMode="Externa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7e81e677-3f44-4aa9-a8fc-77111998c37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26670" y="4258605"/>
            <a:ext cx="4124930" cy="6040600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9de6dbbb-504f-4e38-bdec-5f111a9bc405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 rot="5015432">
            <a:off x="-3649575" y="-553590"/>
            <a:ext cx="3802249" cy="5568063"/>
          </a:xfrm>
          <a:prstGeom prst="rect">
            <a:avLst/>
          </a:prstGeom>
        </p:spPr>
      </p:pic>
      <p:pic>
        <p:nvPicPr>
          <p:cNvPr id="5" name="Image 2" descr="https://pitch-assets-ccb95893-de3f-4266-973c-20049231b248.s3.eu-west-1.amazonaws.com/1aec8e6e-c5ea-4d25-a880-c7847d0b05cc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19462107">
            <a:off x="6959504" y="-3005023"/>
            <a:ext cx="3921896" cy="5743275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1930400" y="2471565"/>
            <a:ext cx="5283200" cy="142285"/>
          </a:xfrm>
          <a:prstGeom prst="roundRect">
            <a:avLst>
              <a:gd name="adj" fmla="val -642654"/>
            </a:avLst>
          </a:prstGeom>
          <a:solidFill>
            <a:srgbClr val="EFDDC1"/>
          </a:solidFill>
          <a:ln/>
        </p:spPr>
      </p:sp>
      <p:sp>
        <p:nvSpPr>
          <p:cNvPr id="7" name="Shape 1"/>
          <p:cNvSpPr/>
          <p:nvPr/>
        </p:nvSpPr>
        <p:spPr>
          <a:xfrm>
            <a:off x="3236686" y="3290888"/>
            <a:ext cx="2670629" cy="142285"/>
          </a:xfrm>
          <a:prstGeom prst="roundRect">
            <a:avLst>
              <a:gd name="adj" fmla="val -642654"/>
            </a:avLst>
          </a:prstGeom>
          <a:solidFill>
            <a:srgbClr val="EFDDC1"/>
          </a:solidFill>
          <a:ln/>
        </p:spPr>
      </p:sp>
      <p:sp>
        <p:nvSpPr>
          <p:cNvPr id="8" name="Text 2"/>
          <p:cNvSpPr/>
          <p:nvPr/>
        </p:nvSpPr>
        <p:spPr>
          <a:xfrm>
            <a:off x="1643122" y="1001497"/>
            <a:ext cx="5857756" cy="2457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6450"/>
              </a:lnSpc>
            </a:pPr>
            <a:r>
              <a:rPr lang="en-US" sz="6500" b="0" dirty="0">
                <a:solidFill>
                  <a:srgbClr val="183264"/>
                </a:solidFill>
                <a:latin typeface="Rakkas" pitchFamily="34" charset="0"/>
                <a:ea typeface="Rakkas" pitchFamily="34" charset="-122"/>
                <a:cs typeface="Rakkas" pitchFamily="34" charset="-120"/>
              </a:rPr>
              <a:t>SOLID Principles </a:t>
            </a:r>
            <a:endParaRPr lang="en-US" sz="6450" dirty="0"/>
          </a:p>
          <a:p>
            <a:pPr algn="ctr">
              <a:lnSpc>
                <a:spcPts val="6450"/>
              </a:lnSpc>
            </a:pPr>
            <a:r>
              <a:rPr lang="en-US" sz="6500" b="0" dirty="0">
                <a:solidFill>
                  <a:srgbClr val="183264"/>
                </a:solidFill>
                <a:latin typeface="Rakkas" pitchFamily="34" charset="0"/>
                <a:ea typeface="Rakkas" pitchFamily="34" charset="-122"/>
                <a:cs typeface="Rakkas" pitchFamily="34" charset="-120"/>
              </a:rPr>
              <a:t>in C#</a:t>
            </a:r>
            <a:endParaRPr lang="en-US" sz="6450" dirty="0"/>
          </a:p>
        </p:txBody>
      </p:sp>
      <p:sp>
        <p:nvSpPr>
          <p:cNvPr id="9" name="Text 3"/>
          <p:cNvSpPr/>
          <p:nvPr/>
        </p:nvSpPr>
        <p:spPr>
          <a:xfrm>
            <a:off x="6858417" y="4340801"/>
            <a:ext cx="1809333" cy="6705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0" dirty="0">
                <a:solidFill>
                  <a:srgbClr val="183264"/>
                </a:solidFill>
                <a:latin typeface="Rakkas" pitchFamily="34" charset="0"/>
                <a:ea typeface="Rakkas" pitchFamily="34" charset="-122"/>
                <a:cs typeface="Rakkas" pitchFamily="34" charset="-120"/>
              </a:rPr>
              <a:t>Presented by: </a:t>
            </a:r>
            <a:endParaRPr lang="en-US" sz="2400" dirty="0"/>
          </a:p>
          <a:p>
            <a:pPr algn="l">
              <a:lnSpc>
                <a:spcPts val="2640"/>
              </a:lnSpc>
            </a:pPr>
            <a:r>
              <a:rPr lang="en-US" sz="2400" b="0" dirty="0">
                <a:solidFill>
                  <a:srgbClr val="183264"/>
                </a:solidFill>
                <a:latin typeface="Rakkas" pitchFamily="34" charset="0"/>
                <a:ea typeface="Rakkas" pitchFamily="34" charset="-122"/>
                <a:cs typeface="Rakkas" pitchFamily="34" charset="-120"/>
              </a:rPr>
              <a:t>Giridhar Gopal</a:t>
            </a:r>
            <a:endParaRPr lang="en-US" sz="2400" dirty="0"/>
          </a:p>
        </p:txBody>
      </p:sp>
      <p:sp>
        <p:nvSpPr>
          <p:cNvPr id="10" name="Text 4"/>
          <p:cNvSpPr/>
          <p:nvPr/>
        </p:nvSpPr>
        <p:spPr>
          <a:xfrm>
            <a:off x="476250" y="4340600"/>
            <a:ext cx="1999536" cy="6705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0" dirty="0">
                <a:solidFill>
                  <a:srgbClr val="183264"/>
                </a:solidFill>
                <a:latin typeface="Rakkas" pitchFamily="34" charset="0"/>
                <a:ea typeface="Rakkas" pitchFamily="34" charset="-122"/>
                <a:cs typeface="Rakkas" pitchFamily="34" charset="-120"/>
              </a:rPr>
              <a:t>Presented to:</a:t>
            </a:r>
            <a:endParaRPr lang="en-US" sz="2400" dirty="0"/>
          </a:p>
          <a:p>
            <a:pPr algn="l">
              <a:lnSpc>
                <a:spcPts val="2640"/>
              </a:lnSpc>
            </a:pPr>
            <a:r>
              <a:rPr lang="en-US" sz="2400" b="0" dirty="0">
                <a:solidFill>
                  <a:srgbClr val="183264"/>
                </a:solidFill>
                <a:latin typeface="Rakkas" pitchFamily="34" charset="0"/>
                <a:ea typeface="Rakkas" pitchFamily="34" charset="-122"/>
                <a:cs typeface="Rakkas" pitchFamily="34" charset="-120"/>
              </a:rPr>
              <a:t>Parth Shukla Sir</a:t>
            </a:r>
            <a:endParaRPr lang="en-US" sz="2400" dirty="0"/>
          </a:p>
        </p:txBody>
      </p:sp>
      <p:pic>
        <p:nvPicPr>
          <p:cNvPr id="11" name="Image 3" descr="https://pitch-assets-ccb95893-de3f-4266-973c-20049231b248.s3.eu-west-1.amazonaws.com/try-pitch-pdf-export-logo.svg">
            <a:hlinkClick r:id="rId6" tooltip=""/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32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c3eb7a40-2160-4581-bb24-ed3fdd924d4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 rot="19394628">
            <a:off x="7976467" y="-2075160"/>
            <a:ext cx="3235889" cy="4738677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7e81e677-3f44-4aa9-a8fc-77111998c371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 rot="1118631">
            <a:off x="-2015553" y="3839628"/>
            <a:ext cx="3833670" cy="566823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6250" y="476250"/>
            <a:ext cx="819150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500"/>
              </a:lnSpc>
            </a:pPr>
            <a:r>
              <a:rPr lang="en-US" sz="4500" b="0" u="heavy" dirty="0">
                <a:solidFill>
                  <a:srgbClr val="FFFFFF"/>
                </a:solidFill>
                <a:latin typeface="Rakkas" pitchFamily="34" charset="0"/>
                <a:ea typeface="Rakkas" pitchFamily="34" charset="-122"/>
                <a:cs typeface="Rakkas" pitchFamily="34" charset="-120"/>
              </a:rPr>
              <a:t>Introduction to Solid Principles:</a:t>
            </a:r>
            <a:endParaRPr lang="en-US" sz="4500" dirty="0"/>
          </a:p>
        </p:txBody>
      </p:sp>
      <p:sp>
        <p:nvSpPr>
          <p:cNvPr id="6" name="Text 1"/>
          <p:cNvSpPr/>
          <p:nvPr/>
        </p:nvSpPr>
        <p:spPr>
          <a:xfrm>
            <a:off x="476250" y="1099185"/>
            <a:ext cx="81915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</a:pPr>
            <a:endParaRPr lang="en-US" sz="1500" dirty="0"/>
          </a:p>
          <a:p>
            <a:pPr algn="l">
              <a:lnSpc>
                <a:spcPts val="2100"/>
              </a:lnSpc>
            </a:pPr>
            <a:endParaRPr lang="en-US" sz="1500" dirty="0"/>
          </a:p>
          <a:p>
            <a:pPr algn="l" marL="190500" indent="-190500">
              <a:lnSpc>
                <a:spcPts val="2100"/>
              </a:lnSpc>
              <a:buSzPct val="100000"/>
              <a:buChar char="☐"/>
            </a:pPr>
            <a:r>
              <a:rPr lang="en-US" sz="15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SOLID principles</a:t>
            </a:r>
            <a:pPr algn="l">
              <a:lnSpc>
                <a:spcPts val="2100"/>
              </a:lnSpc>
            </a:pPr>
            <a:r>
              <a:rPr lang="en-US" sz="15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are a set of </a:t>
            </a:r>
            <a:pPr algn="l">
              <a:lnSpc>
                <a:spcPts val="2100"/>
              </a:lnSpc>
            </a:pPr>
            <a:r>
              <a:rPr lang="en-US" sz="15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5 design guidelines</a:t>
            </a:r>
            <a:pPr algn="l">
              <a:lnSpc>
                <a:spcPts val="2100"/>
              </a:lnSpc>
            </a:pPr>
            <a:r>
              <a:rPr lang="en-US" sz="15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in </a:t>
            </a:r>
            <a:pPr algn="l">
              <a:lnSpc>
                <a:spcPts val="2100"/>
              </a:lnSpc>
            </a:pPr>
            <a:r>
              <a:rPr lang="en-US" sz="15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object-oriented programming (OOP)</a:t>
            </a:r>
            <a:pPr algn="l">
              <a:lnSpc>
                <a:spcPts val="2100"/>
              </a:lnSpc>
            </a:pPr>
            <a:r>
              <a:rPr lang="en-US" sz="15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that help developers build </a:t>
            </a:r>
            <a:pPr algn="l">
              <a:lnSpc>
                <a:spcPts val="2100"/>
              </a:lnSpc>
            </a:pPr>
            <a:r>
              <a:rPr lang="en-US" sz="15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robust, maintainable, and scalable software systems</a:t>
            </a:r>
            <a:pPr algn="l">
              <a:lnSpc>
                <a:spcPts val="2100"/>
              </a:lnSpc>
            </a:pPr>
            <a:r>
              <a:rPr lang="en-US" sz="15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 </a:t>
            </a:r>
            <a:endParaRPr lang="en-US" sz="1500" dirty="0"/>
          </a:p>
          <a:p>
            <a:pPr algn="l">
              <a:lnSpc>
                <a:spcPts val="2100"/>
              </a:lnSpc>
            </a:pPr>
            <a:endParaRPr lang="en-US" sz="1500" dirty="0"/>
          </a:p>
          <a:p>
            <a:pPr algn="l" marL="190500" indent="-190500">
              <a:lnSpc>
                <a:spcPts val="2100"/>
              </a:lnSpc>
              <a:buSzPct val="100000"/>
              <a:buChar char="☐"/>
            </a:pPr>
            <a:r>
              <a:rPr lang="en-US" sz="15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These principles were introduced by Robert C. Martin (also known as </a:t>
            </a:r>
            <a:pPr algn="l">
              <a:lnSpc>
                <a:spcPts val="2100"/>
              </a:lnSpc>
            </a:pPr>
            <a:r>
              <a:rPr lang="en-US" sz="1500" b="1" i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Uncle Bob</a:t>
            </a:r>
            <a:pPr algn="l">
              <a:lnSpc>
                <a:spcPts val="2100"/>
              </a:lnSpc>
            </a:pPr>
            <a:r>
              <a:rPr lang="en-US" sz="15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), a well-known software engineer and author. </a:t>
            </a:r>
            <a:endParaRPr lang="en-US" sz="1500" dirty="0"/>
          </a:p>
          <a:p>
            <a:pPr algn="l">
              <a:lnSpc>
                <a:spcPts val="2100"/>
              </a:lnSpc>
            </a:pPr>
            <a:endParaRPr lang="en-US" sz="1500" dirty="0"/>
          </a:p>
          <a:p>
            <a:pPr algn="l" marL="190500" indent="-190500">
              <a:lnSpc>
                <a:spcPts val="2100"/>
              </a:lnSpc>
              <a:buSzPct val="100000"/>
              <a:buChar char="☐"/>
            </a:pPr>
            <a:r>
              <a:rPr lang="en-US" sz="15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SOLID principles are widely used in modern programming languages such as </a:t>
            </a:r>
            <a:pPr algn="l">
              <a:lnSpc>
                <a:spcPts val="2100"/>
              </a:lnSpc>
            </a:pPr>
            <a:r>
              <a:rPr lang="en-US" sz="15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C#, Java, Python, and C++</a:t>
            </a:r>
            <a:pPr algn="l">
              <a:lnSpc>
                <a:spcPts val="2100"/>
              </a:lnSpc>
            </a:pPr>
            <a:r>
              <a:rPr lang="en-US" sz="15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</a:t>
            </a:r>
            <a:endParaRPr lang="en-US" sz="1500" dirty="0"/>
          </a:p>
        </p:txBody>
      </p:sp>
      <p:pic>
        <p:nvPicPr>
          <p:cNvPr id="7" name="Image 2" descr="https://pitch-assets-ccb95893-de3f-4266-973c-20049231b248.s3.eu-west-1.amazonaws.com/try-pitch-pdf-export-logo.svg">
            <a:hlinkClick r:id="rId5" tooltip=""/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9de6dbbb-504f-4e38-bdec-5f111a9bc405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 rot="5015432">
            <a:off x="-4259175" y="-553590"/>
            <a:ext cx="3802249" cy="5568063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7e81e677-3f44-4aa9-a8fc-77111998c371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9608" y="4178777"/>
            <a:ext cx="4124930" cy="6040600"/>
          </a:xfrm>
          <a:prstGeom prst="rect">
            <a:avLst/>
          </a:prstGeom>
        </p:spPr>
      </p:pic>
      <p:pic>
        <p:nvPicPr>
          <p:cNvPr id="5" name="Image 2" descr="https://pitch-assets-ccb95893-de3f-4266-973c-20049231b248.s3.eu-west-1.amazonaws.com/1aec8e6e-c5ea-4d25-a880-c7847d0b05cc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19462107">
            <a:off x="2611052" y="-3776288"/>
            <a:ext cx="3921896" cy="574327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0" y="0"/>
            <a:ext cx="4572000" cy="5143500"/>
          </a:xfrm>
          <a:prstGeom prst="roundRect">
            <a:avLst>
              <a:gd name="adj" fmla="val -20000"/>
            </a:avLst>
          </a:prstGeom>
          <a:solidFill>
            <a:srgbClr val="FFFFFF"/>
          </a:solidFill>
          <a:ln/>
        </p:spPr>
        <p:txBody>
          <a:bodyPr wrap="square" lIns="254000" tIns="607219" rIns="254000" bIns="607219" rtlCol="0" anchor="ctr"/>
          <a:lstStyle/>
          <a:p>
            <a:pPr algn="ctr">
              <a:lnSpc>
                <a:spcPts val="1785"/>
              </a:lnSpc>
            </a:pPr>
            <a:endParaRPr lang="en-US" sz="1275" dirty="0"/>
          </a:p>
        </p:txBody>
      </p:sp>
      <p:sp>
        <p:nvSpPr>
          <p:cNvPr id="7" name="Shape 1"/>
          <p:cNvSpPr/>
          <p:nvPr/>
        </p:nvSpPr>
        <p:spPr>
          <a:xfrm>
            <a:off x="1016000" y="2833225"/>
            <a:ext cx="2344057" cy="142285"/>
          </a:xfrm>
          <a:prstGeom prst="roundRect">
            <a:avLst>
              <a:gd name="adj" fmla="val -642654"/>
            </a:avLst>
          </a:prstGeom>
          <a:solidFill>
            <a:srgbClr val="EFDDC1"/>
          </a:solidFill>
          <a:ln/>
        </p:spPr>
      </p:sp>
      <p:sp>
        <p:nvSpPr>
          <p:cNvPr id="8" name="Text 2"/>
          <p:cNvSpPr/>
          <p:nvPr/>
        </p:nvSpPr>
        <p:spPr>
          <a:xfrm>
            <a:off x="5246007" y="1666421"/>
            <a:ext cx="40397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3000" b="1" spc="-24" kern="0" dirty="0">
                <a:solidFill>
                  <a:srgbClr val="FF9F8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</a:t>
            </a:r>
            <a:endParaRPr lang="en-US" sz="3000" dirty="0"/>
          </a:p>
        </p:txBody>
      </p:sp>
      <p:sp>
        <p:nvSpPr>
          <p:cNvPr id="9" name="Text 3"/>
          <p:cNvSpPr/>
          <p:nvPr/>
        </p:nvSpPr>
        <p:spPr>
          <a:xfrm>
            <a:off x="5783949" y="1799577"/>
            <a:ext cx="26925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100"/>
              </a:lnSpc>
            </a:pPr>
            <a:r>
              <a:rPr lang="en-US" sz="1500" b="1" spc="-24" kern="0" dirty="0">
                <a:solidFill>
                  <a:srgbClr val="222222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Single Responsibility Principle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6003976" y="2305050"/>
            <a:ext cx="24725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100"/>
              </a:lnSpc>
            </a:pPr>
            <a:r>
              <a:rPr lang="en-US" sz="1500" b="1" spc="-24" kern="0" dirty="0">
                <a:solidFill>
                  <a:srgbClr val="222222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Open/Closed Principle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5246007" y="2190928"/>
            <a:ext cx="40397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3000" b="1" spc="-24" kern="0" dirty="0">
                <a:solidFill>
                  <a:srgbClr val="FF9F8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</a:t>
            </a:r>
            <a:endParaRPr lang="en-US" sz="3000" dirty="0"/>
          </a:p>
        </p:txBody>
      </p:sp>
      <p:sp>
        <p:nvSpPr>
          <p:cNvPr id="12" name="Text 6"/>
          <p:cNvSpPr/>
          <p:nvPr/>
        </p:nvSpPr>
        <p:spPr>
          <a:xfrm>
            <a:off x="5783966" y="3373488"/>
            <a:ext cx="27754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100"/>
              </a:lnSpc>
            </a:pPr>
            <a:r>
              <a:rPr lang="en-US" sz="1500" b="1" spc="-24" kern="0" dirty="0">
                <a:solidFill>
                  <a:srgbClr val="222222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Interface Segregation Principle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5246007" y="2715435"/>
            <a:ext cx="40409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3000" b="1" spc="-24" kern="0" dirty="0">
                <a:solidFill>
                  <a:srgbClr val="FF9F8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L</a:t>
            </a:r>
            <a:endParaRPr lang="en-US" sz="3000" dirty="0"/>
          </a:p>
        </p:txBody>
      </p:sp>
      <p:sp>
        <p:nvSpPr>
          <p:cNvPr id="14" name="Text 8"/>
          <p:cNvSpPr/>
          <p:nvPr/>
        </p:nvSpPr>
        <p:spPr>
          <a:xfrm>
            <a:off x="5935413" y="2848851"/>
            <a:ext cx="26239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100"/>
              </a:lnSpc>
            </a:pPr>
            <a:r>
              <a:rPr lang="en-US" sz="1500" b="1" spc="-24" kern="0" dirty="0">
                <a:solidFill>
                  <a:srgbClr val="222222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Liskov Substitution Principle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5246007" y="3239942"/>
            <a:ext cx="40397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3000" b="1" spc="-24" kern="0" dirty="0">
                <a:solidFill>
                  <a:srgbClr val="FF9F8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</a:t>
            </a:r>
            <a:endParaRPr lang="en-US" sz="3000" dirty="0"/>
          </a:p>
        </p:txBody>
      </p:sp>
      <p:sp>
        <p:nvSpPr>
          <p:cNvPr id="16" name="Text 10"/>
          <p:cNvSpPr/>
          <p:nvPr/>
        </p:nvSpPr>
        <p:spPr>
          <a:xfrm>
            <a:off x="5245913" y="3721096"/>
            <a:ext cx="25396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24" kern="0" dirty="0">
                <a:solidFill>
                  <a:srgbClr val="FF9F8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</a:t>
            </a:r>
            <a:endParaRPr lang="en-US" sz="3000" dirty="0"/>
          </a:p>
        </p:txBody>
      </p:sp>
      <p:sp>
        <p:nvSpPr>
          <p:cNvPr id="17" name="Text 11"/>
          <p:cNvSpPr/>
          <p:nvPr/>
        </p:nvSpPr>
        <p:spPr>
          <a:xfrm>
            <a:off x="476250" y="2191131"/>
            <a:ext cx="3852505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0" dirty="0">
                <a:solidFill>
                  <a:srgbClr val="183264"/>
                </a:solidFill>
                <a:latin typeface="Rakkas" pitchFamily="34" charset="0"/>
                <a:ea typeface="Rakkas" pitchFamily="34" charset="-122"/>
                <a:cs typeface="Rakkas" pitchFamily="34" charset="-120"/>
              </a:rPr>
              <a:t>What is SOLID ?</a:t>
            </a:r>
            <a:endParaRPr lang="en-US" sz="4500" dirty="0"/>
          </a:p>
        </p:txBody>
      </p:sp>
      <p:sp>
        <p:nvSpPr>
          <p:cNvPr id="18" name="Text 12"/>
          <p:cNvSpPr/>
          <p:nvPr/>
        </p:nvSpPr>
        <p:spPr>
          <a:xfrm>
            <a:off x="5783906" y="3854406"/>
            <a:ext cx="28838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</a:pPr>
            <a:r>
              <a:rPr lang="en-US" sz="1500" b="1" spc="-24" kern="0" dirty="0">
                <a:solidFill>
                  <a:srgbClr val="222222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  Dependency Inversion Principle</a:t>
            </a:r>
            <a:endParaRPr lang="en-US" sz="1500" dirty="0"/>
          </a:p>
        </p:txBody>
      </p:sp>
      <p:pic>
        <p:nvPicPr>
          <p:cNvPr id="19" name="Image 3" descr="https://pitch-assets-ccb95893-de3f-4266-973c-20049231b248.s3.eu-west-1.amazonaws.com/try-pitch-pdf-export-logo.svg">
            <a:hlinkClick r:id="rId6" tooltip=""/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32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c3eb7a40-2160-4581-bb24-ed3fdd924d4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 rot="19394628">
            <a:off x="7976467" y="-2075160"/>
            <a:ext cx="3235889" cy="4738677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7e81e677-3f44-4aa9-a8fc-77111998c371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 rot="1118631">
            <a:off x="-2015553" y="3839628"/>
            <a:ext cx="3833670" cy="566823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6250" y="476250"/>
            <a:ext cx="819150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180"/>
              </a:lnSpc>
            </a:pPr>
            <a:r>
              <a:rPr lang="en-US" sz="3000" b="0" u="heavy" dirty="0">
                <a:solidFill>
                  <a:srgbClr val="FFFFFF"/>
                </a:solidFill>
                <a:latin typeface="Rakkas" pitchFamily="34" charset="0"/>
                <a:ea typeface="Rakkas" pitchFamily="34" charset="-122"/>
                <a:cs typeface="Rakkas" pitchFamily="34" charset="-120"/>
              </a:rPr>
              <a:t>S — Single Responsibility Principle (SRP)</a:t>
            </a:r>
            <a:endParaRPr lang="en-US" sz="3000" dirty="0"/>
          </a:p>
        </p:txBody>
      </p:sp>
      <p:sp>
        <p:nvSpPr>
          <p:cNvPr id="6" name="Text 1"/>
          <p:cNvSpPr/>
          <p:nvPr/>
        </p:nvSpPr>
        <p:spPr>
          <a:xfrm>
            <a:off x="476250" y="1258612"/>
            <a:ext cx="6697385" cy="2333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Definition :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A class should have 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only one responsibility (one job)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A class should have 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only one reason to change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Avoid combining multiple functionalities in a single class </a:t>
            </a:r>
            <a:endParaRPr lang="en-US" sz="1875" dirty="0"/>
          </a:p>
          <a:p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Key Idea :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Separation of concerns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Each class focuses on 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one specific task</a:t>
            </a:r>
            <a:endParaRPr lang="en-US" sz="1875" dirty="0"/>
          </a:p>
        </p:txBody>
      </p:sp>
      <p:pic>
        <p:nvPicPr>
          <p:cNvPr id="7" name="Image 2" descr="https://pitch-assets-ccb95893-de3f-4266-973c-20049231b248.s3.eu-west-1.amazonaws.com/try-pitch-pdf-export-logo.svg">
            <a:hlinkClick r:id="rId5" tooltip=""/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32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c3eb7a40-2160-4581-bb24-ed3fdd924d4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 rot="19394628">
            <a:off x="7976467" y="-2075160"/>
            <a:ext cx="3235889" cy="4738677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7e81e677-3f44-4aa9-a8fc-77111998c371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 rot="1118631">
            <a:off x="-2015553" y="3839628"/>
            <a:ext cx="3833670" cy="566823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6250" y="476250"/>
            <a:ext cx="819150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180"/>
              </a:lnSpc>
            </a:pPr>
            <a:r>
              <a:rPr lang="en-US" sz="3000" b="0" u="heavy" dirty="0">
                <a:solidFill>
                  <a:srgbClr val="FFFFFF"/>
                </a:solidFill>
                <a:latin typeface="Rakkas" pitchFamily="34" charset="0"/>
                <a:ea typeface="Rakkas" pitchFamily="34" charset="-122"/>
                <a:cs typeface="Rakkas" pitchFamily="34" charset="-120"/>
              </a:rPr>
              <a:t>O — Open/Closed Principle (OCP)</a:t>
            </a:r>
            <a:endParaRPr lang="en-US" sz="3000" dirty="0"/>
          </a:p>
        </p:txBody>
      </p:sp>
      <p:sp>
        <p:nvSpPr>
          <p:cNvPr id="6" name="Text 1"/>
          <p:cNvSpPr/>
          <p:nvPr/>
        </p:nvSpPr>
        <p:spPr>
          <a:xfrm>
            <a:off x="476250" y="1267219"/>
            <a:ext cx="6373892" cy="2333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Definition: 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Classes should be: </a:t>
            </a:r>
            <a:endParaRPr lang="en-US" sz="1875" dirty="0"/>
          </a:p>
          <a:p>
            <a:pPr algn="l" lvl="1" marL="3810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Open for extension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(you can add new features) </a:t>
            </a:r>
            <a:endParaRPr lang="en-US" sz="1875" dirty="0"/>
          </a:p>
          <a:p>
            <a:pPr algn="l" lvl="1" marL="3810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Closed for modification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(don’t change existing code) </a:t>
            </a:r>
            <a:endParaRPr lang="en-US" sz="1875" dirty="0"/>
          </a:p>
          <a:p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Key Idea: 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Use 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inheritance / interfaces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Avoid modifying existing working code</a:t>
            </a:r>
            <a:endParaRPr lang="en-US" sz="1875" dirty="0"/>
          </a:p>
        </p:txBody>
      </p:sp>
      <p:pic>
        <p:nvPicPr>
          <p:cNvPr id="7" name="Image 2" descr="https://pitch-assets-ccb95893-de3f-4266-973c-20049231b248.s3.eu-west-1.amazonaws.com/try-pitch-pdf-export-logo.svg">
            <a:hlinkClick r:id="rId5" tooltip=""/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32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c3eb7a40-2160-4581-bb24-ed3fdd924d4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 rot="19394628">
            <a:off x="7606353" y="-2075160"/>
            <a:ext cx="3235889" cy="4738677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7e81e677-3f44-4aa9-a8fc-77111998c371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 rot="1118631">
            <a:off x="-2015553" y="3839628"/>
            <a:ext cx="3833670" cy="566823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6250" y="476250"/>
            <a:ext cx="6330434" cy="4400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3200" b="0" u="heavy" dirty="0">
                <a:solidFill>
                  <a:srgbClr val="FFFFFF"/>
                </a:solidFill>
                <a:latin typeface="Rakkas" pitchFamily="34" charset="0"/>
                <a:ea typeface="Rakkas" pitchFamily="34" charset="-122"/>
                <a:cs typeface="Rakkas" pitchFamily="34" charset="-120"/>
              </a:rPr>
              <a:t>L — Liskov Substitution Principle (LSP)</a:t>
            </a:r>
            <a:endParaRPr lang="en-US" sz="3150" dirty="0"/>
          </a:p>
        </p:txBody>
      </p:sp>
      <p:sp>
        <p:nvSpPr>
          <p:cNvPr id="6" name="Text 1"/>
          <p:cNvSpPr/>
          <p:nvPr/>
        </p:nvSpPr>
        <p:spPr>
          <a:xfrm>
            <a:off x="476250" y="1389484"/>
            <a:ext cx="6281738" cy="2000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Definition :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A child class should be able to 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replace its parent class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Without breaking the program behavior </a:t>
            </a:r>
            <a:endParaRPr lang="en-US" sz="1875" dirty="0"/>
          </a:p>
          <a:p>
            <a:pPr algn="l">
              <a:lnSpc>
                <a:spcPts val="2625"/>
              </a:lnSpc>
            </a:pPr>
            <a:endParaRPr lang="en-US" sz="1875" dirty="0"/>
          </a:p>
          <a:p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Key Idea :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Inheritance should not change expected behavior</a:t>
            </a:r>
            <a:endParaRPr lang="en-US" sz="1875" dirty="0"/>
          </a:p>
        </p:txBody>
      </p:sp>
      <p:pic>
        <p:nvPicPr>
          <p:cNvPr id="7" name="Image 2" descr="https://pitch-assets-ccb95893-de3f-4266-973c-20049231b248.s3.eu-west-1.amazonaws.com/try-pitch-pdf-export-logo.svg">
            <a:hlinkClick r:id="rId5" tooltip=""/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32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c3eb7a40-2160-4581-bb24-ed3fdd924d4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 rot="19394628">
            <a:off x="7606353" y="-2075160"/>
            <a:ext cx="3235889" cy="4738677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7e81e677-3f44-4aa9-a8fc-77111998c371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 rot="1118631">
            <a:off x="-2015553" y="3839628"/>
            <a:ext cx="3833670" cy="566823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6250" y="476250"/>
            <a:ext cx="6460450" cy="4400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3200" b="0" u="heavy" dirty="0">
                <a:solidFill>
                  <a:srgbClr val="FFFFFF"/>
                </a:solidFill>
                <a:latin typeface="Rakkas" pitchFamily="34" charset="0"/>
                <a:ea typeface="Rakkas" pitchFamily="34" charset="-122"/>
                <a:cs typeface="Rakkas" pitchFamily="34" charset="-120"/>
              </a:rPr>
              <a:t>I — Interface Segregation Principle (ISP)</a:t>
            </a:r>
            <a:endParaRPr lang="en-US" sz="3150" dirty="0"/>
          </a:p>
        </p:txBody>
      </p:sp>
      <p:sp>
        <p:nvSpPr>
          <p:cNvPr id="6" name="Text 1"/>
          <p:cNvSpPr/>
          <p:nvPr/>
        </p:nvSpPr>
        <p:spPr>
          <a:xfrm>
            <a:off x="476250" y="1375429"/>
            <a:ext cx="7659529" cy="2000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Definition :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A class should 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not be forced to implement methods it does not use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Prefer 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multiple small interfaces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instead of one large interface </a:t>
            </a:r>
            <a:endParaRPr lang="en-US" sz="1875" dirty="0"/>
          </a:p>
          <a:p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Key Idea :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Avoid “fat interfaces” 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Keep interfaces 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specific and minimal</a:t>
            </a:r>
            <a:endParaRPr lang="en-US" sz="1875" dirty="0"/>
          </a:p>
        </p:txBody>
      </p:sp>
      <p:pic>
        <p:nvPicPr>
          <p:cNvPr id="7" name="Image 2" descr="https://pitch-assets-ccb95893-de3f-4266-973c-20049231b248.s3.eu-west-1.amazonaws.com/try-pitch-pdf-export-logo.svg">
            <a:hlinkClick r:id="rId5" tooltip=""/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32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c3eb7a40-2160-4581-bb24-ed3fdd924d4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 rot="19394628">
            <a:off x="7606353" y="-2075160"/>
            <a:ext cx="3235889" cy="4738677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7e81e677-3f44-4aa9-a8fc-77111998c371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 rot="1118631">
            <a:off x="-2015553" y="3839628"/>
            <a:ext cx="3833670" cy="566823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6250" y="476250"/>
            <a:ext cx="6827699" cy="4400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3200" b="0" u="heavy" dirty="0">
                <a:solidFill>
                  <a:srgbClr val="FFFFFF"/>
                </a:solidFill>
                <a:latin typeface="Rakkas" pitchFamily="34" charset="0"/>
                <a:ea typeface="Rakkas" pitchFamily="34" charset="-122"/>
                <a:cs typeface="Rakkas" pitchFamily="34" charset="-120"/>
              </a:rPr>
              <a:t>D — Dependency Inversion Principle (DIP)</a:t>
            </a:r>
            <a:endParaRPr lang="en-US" sz="3150" dirty="0"/>
          </a:p>
        </p:txBody>
      </p:sp>
      <p:sp>
        <p:nvSpPr>
          <p:cNvPr id="6" name="Text 1"/>
          <p:cNvSpPr/>
          <p:nvPr/>
        </p:nvSpPr>
        <p:spPr>
          <a:xfrm>
            <a:off x="476250" y="1375429"/>
            <a:ext cx="6939796" cy="2000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Definition :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High-level modules should not depend on low-level modules 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Both should depend on 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abstractions (interfaces)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</a:t>
            </a:r>
            <a:endParaRPr lang="en-US" sz="1875" dirty="0"/>
          </a:p>
          <a:p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Key Idea :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Use 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interfaces instead of concrete classes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</a:t>
            </a:r>
            <a:endParaRPr lang="en-US" sz="1875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Promotes </a:t>
            </a:r>
            <a:pPr algn="l">
              <a:lnSpc>
                <a:spcPts val="2625"/>
              </a:lnSpc>
            </a:pPr>
            <a:r>
              <a:rPr lang="en-US" sz="19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loose coupling</a:t>
            </a:r>
            <a:endParaRPr lang="en-US" sz="1875" dirty="0"/>
          </a:p>
        </p:txBody>
      </p:sp>
      <p:pic>
        <p:nvPicPr>
          <p:cNvPr id="7" name="Image 2" descr="https://pitch-assets-ccb95893-de3f-4266-973c-20049231b248.s3.eu-west-1.amazonaws.com/try-pitch-pdf-export-logo.svg">
            <a:hlinkClick r:id="rId5" tooltip=""/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7e81e677-3f44-4aa9-a8fc-77111998c37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05423" y="2952262"/>
            <a:ext cx="4735782" cy="7002041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abea5c24-f55d-4ad0-a81f-6a177bf875f6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-261871" y="-1663815"/>
            <a:ext cx="2541229" cy="3720099"/>
          </a:xfrm>
          <a:prstGeom prst="rect">
            <a:avLst/>
          </a:prstGeom>
        </p:spPr>
      </p:pic>
      <p:pic>
        <p:nvPicPr>
          <p:cNvPr id="5" name="Image 2" descr="https://pitch-assets-ccb95893-de3f-4266-973c-20049231b248.s3.eu-west-1.amazonaws.com/9de6dbbb-504f-4e38-bdec-5f111a9bc405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20700000">
            <a:off x="7147287" y="-3590940"/>
            <a:ext cx="3282226" cy="4806534"/>
          </a:xfrm>
          <a:prstGeom prst="rect">
            <a:avLst/>
          </a:prstGeom>
        </p:spPr>
      </p:pic>
      <p:pic>
        <p:nvPicPr>
          <p:cNvPr id="6" name="Image 3" descr="https://pitch-assets-ccb95893-de3f-4266-973c-20049231b248.s3.eu-west-1.amazonaws.com/1bd2683c-e889-491b-9add-8327b9ff91a5?pitch-bytes=62426&amp;pitch-content-type=image%2F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55752" y="1043874"/>
            <a:ext cx="3460717" cy="3623376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55702" y="390180"/>
            <a:ext cx="71672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</a:pPr>
            <a:r>
              <a:rPr lang="en-US" sz="1500" b="1" spc="-24" kern="0" dirty="0">
                <a:solidFill>
                  <a:srgbClr val="222222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 C# project demonstrating all five SOLID principles using a </a:t>
            </a:r>
            <a:endParaRPr lang="en-US" sz="1500" dirty="0"/>
          </a:p>
          <a:p>
            <a:pPr algn="l">
              <a:lnSpc>
                <a:spcPts val="2100"/>
              </a:lnSpc>
            </a:pPr>
            <a:r>
              <a:rPr lang="en-US" sz="1500" b="1" spc="-24" kern="0" dirty="0">
                <a:solidFill>
                  <a:srgbClr val="222222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Smart Order Processing System.</a:t>
            </a:r>
            <a:endParaRPr lang="en-US" sz="1500" dirty="0"/>
          </a:p>
        </p:txBody>
      </p:sp>
      <p:pic>
        <p:nvPicPr>
          <p:cNvPr id="8" name="Image 4" descr="https://pitch-assets-ccb95893-de3f-4266-973c-20049231b248.s3.eu-west-1.amazonaws.com/8cc0741f-1475-4288-b06f-2194f098fdb4?pitch-bytes=77130&amp;pitch-content-type=image%2Fjpe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913345" y="1044131"/>
            <a:ext cx="4472119" cy="3623120"/>
          </a:xfrm>
          <a:prstGeom prst="rect">
            <a:avLst/>
          </a:prstGeom>
        </p:spPr>
      </p:pic>
      <p:pic>
        <p:nvPicPr>
          <p:cNvPr id="9" name="Image 5" descr="https://pitch-assets-ccb95893-de3f-4266-973c-20049231b248.s3.eu-west-1.amazonaws.com/try-pitch-pdf-export-logo.svg">
            <a:hlinkClick r:id="rId8" tooltip=""/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7e81e677-3f44-4aa9-a8fc-77111998c37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05423" y="2952262"/>
            <a:ext cx="4735782" cy="7002041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abea5c24-f55d-4ad0-a81f-6a177bf875f6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-261871" y="-1663815"/>
            <a:ext cx="2541229" cy="3720099"/>
          </a:xfrm>
          <a:prstGeom prst="rect">
            <a:avLst/>
          </a:prstGeom>
        </p:spPr>
      </p:pic>
      <p:pic>
        <p:nvPicPr>
          <p:cNvPr id="5" name="Image 2" descr="https://pitch-assets-ccb95893-de3f-4266-973c-20049231b248.s3.eu-west-1.amazonaws.com/9de6dbbb-504f-4e38-bdec-5f111a9bc405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20700000">
            <a:off x="7147287" y="-3590940"/>
            <a:ext cx="3282226" cy="4806534"/>
          </a:xfrm>
          <a:prstGeom prst="rect">
            <a:avLst/>
          </a:prstGeom>
        </p:spPr>
      </p:pic>
      <p:pic>
        <p:nvPicPr>
          <p:cNvPr id="6" name="Image 3" descr="https://pitch-assets-ccb95893-de3f-4266-973c-20049231b248.s3.eu-west-1.amazonaws.com/6f1f5735-a8e3-4c28-9c16-6bd9c9e1015d?pitch-bytes=96095&amp;pitch-content-type=image%2F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6250" y="550333"/>
            <a:ext cx="4095750" cy="4042833"/>
          </a:xfrm>
          <a:prstGeom prst="rect">
            <a:avLst/>
          </a:prstGeom>
        </p:spPr>
      </p:pic>
      <p:pic>
        <p:nvPicPr>
          <p:cNvPr id="7" name="Image 4" descr="https://pitch-assets-ccb95893-de3f-4266-973c-20049231b248.s3.eu-west-1.amazonaws.com/7a096310-6ccd-4b1f-bc6d-acec155ebe79?pitch-bytes=115079&amp;pitch-content-type=image%2Fjpe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92498" y="550355"/>
            <a:ext cx="4309597" cy="4042812"/>
          </a:xfrm>
          <a:prstGeom prst="rect">
            <a:avLst/>
          </a:prstGeom>
        </p:spPr>
      </p:pic>
      <p:pic>
        <p:nvPicPr>
          <p:cNvPr id="8" name="Image 5" descr="https://pitch-assets-ccb95893-de3f-4266-973c-20049231b248.s3.eu-west-1.amazonaws.com/try-pitch-pdf-export-logo.svg">
            <a:hlinkClick r:id="rId8" tooltip=""/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7e81e677-3f44-4aa9-a8fc-77111998c37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05423" y="2952262"/>
            <a:ext cx="4735782" cy="7002041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abea5c24-f55d-4ad0-a81f-6a177bf875f6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-261871" y="-1663815"/>
            <a:ext cx="2541229" cy="3720099"/>
          </a:xfrm>
          <a:prstGeom prst="rect">
            <a:avLst/>
          </a:prstGeom>
        </p:spPr>
      </p:pic>
      <p:pic>
        <p:nvPicPr>
          <p:cNvPr id="5" name="Image 2" descr="https://pitch-assets-ccb95893-de3f-4266-973c-20049231b248.s3.eu-west-1.amazonaws.com/9de6dbbb-504f-4e38-bdec-5f111a9bc405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20700000">
            <a:off x="7147287" y="-3590940"/>
            <a:ext cx="3282226" cy="4806534"/>
          </a:xfrm>
          <a:prstGeom prst="rect">
            <a:avLst/>
          </a:prstGeom>
        </p:spPr>
      </p:pic>
      <p:pic>
        <p:nvPicPr>
          <p:cNvPr id="6" name="Image 3" descr="https://pitch-assets-ccb95893-de3f-4266-973c-20049231b248.s3.eu-west-1.amazonaws.com/f5959514-0157-42ae-b889-dc6467b4f350?pitch-bytes=96392&amp;pitch-content-type=image%2Fjpeg">    </p:cNvPr>
          <p:cNvPicPr>
            <a:picLocks noChangeAspect="1"/>
          </p:cNvPicPr>
          <p:nvPr/>
        </p:nvPicPr>
        <p:blipFill>
          <a:blip r:embed="rId4"/>
          <a:srcRect l="490" r="490" t="0" b="0"/>
          <a:stretch/>
        </p:blipFill>
        <p:spPr>
          <a:xfrm>
            <a:off x="476250" y="910273"/>
            <a:ext cx="4095750" cy="3510613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529479" y="476250"/>
            <a:ext cx="819805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u="heavy" spc="-24" kern="0" dirty="0">
                <a:solidFill>
                  <a:srgbClr val="222222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OUTPUT</a:t>
            </a:r>
            <a:endParaRPr lang="en-US" sz="1800" dirty="0"/>
          </a:p>
        </p:txBody>
      </p:sp>
      <p:pic>
        <p:nvPicPr>
          <p:cNvPr id="8" name="Image 4" descr="https://pitch-assets-ccb95893-de3f-4266-973c-20049231b248.s3.eu-west-1.amazonaws.com/2f3b161f-65f7-4cce-b612-bd5eec7b3e1a?pitch-bytes=46224&amp;pitch-content-type=image%2Fjpe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35533" y="910400"/>
            <a:ext cx="4408467" cy="3181809"/>
          </a:xfrm>
          <a:prstGeom prst="rect">
            <a:avLst/>
          </a:prstGeom>
        </p:spPr>
      </p:pic>
      <p:pic>
        <p:nvPicPr>
          <p:cNvPr id="9" name="Image 5" descr="https://pitch-assets-ccb95893-de3f-4266-973c-20049231b248.s3.eu-west-1.amazonaws.com/try-pitch-pdf-export-logo.svg">
            <a:hlinkClick r:id="rId8" tooltip=""/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32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c3eb7a40-2160-4581-bb24-ed3fdd924d4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 rot="19394628">
            <a:off x="7606353" y="-2075160"/>
            <a:ext cx="3235889" cy="4738677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7e81e677-3f44-4aa9-a8fc-77111998c371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 rot="1118631">
            <a:off x="-2015553" y="3839628"/>
            <a:ext cx="3833670" cy="566823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6250" y="476250"/>
            <a:ext cx="2670096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0" dirty="0">
                <a:solidFill>
                  <a:srgbClr val="FFFFFF"/>
                </a:solidFill>
                <a:latin typeface="Rakkas" pitchFamily="34" charset="0"/>
                <a:ea typeface="Rakkas" pitchFamily="34" charset="-122"/>
                <a:cs typeface="Rakkas" pitchFamily="34" charset="-120"/>
              </a:rPr>
              <a:t>Conclusion:</a:t>
            </a:r>
            <a:endParaRPr lang="en-US" sz="4500" dirty="0"/>
          </a:p>
        </p:txBody>
      </p:sp>
      <p:sp>
        <p:nvSpPr>
          <p:cNvPr id="6" name="Text 1"/>
          <p:cNvSpPr/>
          <p:nvPr/>
        </p:nvSpPr>
        <p:spPr>
          <a:xfrm>
            <a:off x="476250" y="1156335"/>
            <a:ext cx="5618083" cy="15868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785"/>
              </a:lnSpc>
            </a:pPr>
            <a:endParaRPr lang="en-US" sz="1275" dirty="0"/>
          </a:p>
          <a:p>
            <a:pPr algn="l" marL="190500" indent="-190500">
              <a:lnSpc>
                <a:spcPts val="1785"/>
              </a:lnSpc>
              <a:buSzPct val="100000"/>
              <a:buChar char="•"/>
            </a:pPr>
            <a:r>
              <a:rPr lang="en-US" sz="13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The project demonstrates </a:t>
            </a:r>
            <a:pPr algn="l">
              <a:lnSpc>
                <a:spcPts val="1785"/>
              </a:lnSpc>
            </a:pPr>
            <a:r>
              <a:rPr lang="en-US" sz="13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all 5 SOLID principles in a practical way</a:t>
            </a:r>
            <a:pPr algn="l">
              <a:lnSpc>
                <a:spcPts val="1785"/>
              </a:lnSpc>
            </a:pPr>
            <a:r>
              <a:rPr lang="en-US" sz="13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</a:t>
            </a:r>
            <a:endParaRPr lang="en-US" sz="1275" dirty="0"/>
          </a:p>
          <a:p>
            <a:pPr algn="l" marL="190500" indent="-190500">
              <a:lnSpc>
                <a:spcPts val="1785"/>
              </a:lnSpc>
              <a:buSzPct val="100000"/>
              <a:buChar char="•"/>
            </a:pPr>
            <a:r>
              <a:rPr lang="en-US" sz="13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Each component has a </a:t>
            </a:r>
            <a:pPr algn="l">
              <a:lnSpc>
                <a:spcPts val="1785"/>
              </a:lnSpc>
            </a:pPr>
            <a:r>
              <a:rPr lang="en-US" sz="13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clear and single responsibility</a:t>
            </a:r>
            <a:pPr algn="l">
              <a:lnSpc>
                <a:spcPts val="1785"/>
              </a:lnSpc>
            </a:pPr>
            <a:r>
              <a:rPr lang="en-US" sz="13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</a:t>
            </a:r>
            <a:endParaRPr lang="en-US" sz="1275" dirty="0"/>
          </a:p>
          <a:p>
            <a:pPr algn="l" marL="190500" indent="-190500">
              <a:lnSpc>
                <a:spcPts val="1785"/>
              </a:lnSpc>
              <a:buSzPct val="100000"/>
              <a:buChar char="•"/>
            </a:pPr>
            <a:r>
              <a:rPr lang="en-US" sz="13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System is </a:t>
            </a:r>
            <a:pPr algn="l">
              <a:lnSpc>
                <a:spcPts val="1785"/>
              </a:lnSpc>
            </a:pPr>
            <a:r>
              <a:rPr lang="en-US" sz="13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flexible and easy to extend</a:t>
            </a:r>
            <a:pPr algn="l">
              <a:lnSpc>
                <a:spcPts val="1785"/>
              </a:lnSpc>
            </a:pPr>
            <a:r>
              <a:rPr lang="en-US" sz="13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(new features can be added easily) </a:t>
            </a:r>
            <a:endParaRPr lang="en-US" sz="1275" dirty="0"/>
          </a:p>
          <a:p>
            <a:pPr algn="l" marL="190500" indent="-190500">
              <a:lnSpc>
                <a:spcPts val="1785"/>
              </a:lnSpc>
              <a:buSzPct val="100000"/>
              <a:buChar char="•"/>
            </a:pPr>
            <a:r>
              <a:rPr lang="en-US" sz="13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Code is </a:t>
            </a:r>
            <a:pPr algn="l">
              <a:lnSpc>
                <a:spcPts val="1785"/>
              </a:lnSpc>
            </a:pPr>
            <a:r>
              <a:rPr lang="en-US" sz="13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loosely coupled using interfaces</a:t>
            </a:r>
            <a:pPr algn="l">
              <a:lnSpc>
                <a:spcPts val="1785"/>
              </a:lnSpc>
            </a:pPr>
            <a:r>
              <a:rPr lang="en-US" sz="13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</a:t>
            </a:r>
            <a:endParaRPr lang="en-US" sz="1275" dirty="0"/>
          </a:p>
          <a:p>
            <a:pPr algn="l" marL="190500" indent="-190500">
              <a:lnSpc>
                <a:spcPts val="1785"/>
              </a:lnSpc>
              <a:buSzPct val="100000"/>
              <a:buChar char="•"/>
            </a:pPr>
            <a:r>
              <a:rPr lang="en-US" sz="13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Improves </a:t>
            </a:r>
            <a:pPr algn="l">
              <a:lnSpc>
                <a:spcPts val="1785"/>
              </a:lnSpc>
            </a:pPr>
            <a:r>
              <a:rPr lang="en-US" sz="13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maintainability, readability, and scalability</a:t>
            </a:r>
            <a:pPr algn="l">
              <a:lnSpc>
                <a:spcPts val="1785"/>
              </a:lnSpc>
            </a:pPr>
            <a:r>
              <a:rPr lang="en-US" sz="13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</a:t>
            </a:r>
            <a:endParaRPr lang="en-US" sz="1275" dirty="0"/>
          </a:p>
          <a:p>
            <a:pPr algn="l" marL="190500" indent="-190500">
              <a:lnSpc>
                <a:spcPts val="1785"/>
              </a:lnSpc>
              <a:buSzPct val="100000"/>
              <a:buChar char="•"/>
            </a:pPr>
            <a:r>
              <a:rPr lang="en-US" sz="13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User input makes the application </a:t>
            </a:r>
            <a:pPr algn="l">
              <a:lnSpc>
                <a:spcPts val="1785"/>
              </a:lnSpc>
            </a:pPr>
            <a:r>
              <a:rPr lang="en-US" sz="13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interactive and realistic</a:t>
            </a:r>
            <a:pPr algn="l">
              <a:lnSpc>
                <a:spcPts val="1785"/>
              </a:lnSpc>
            </a:pPr>
            <a:r>
              <a:rPr lang="en-US" sz="1300" b="1" spc="-24" kern="0" dirty="0">
                <a:solidFill>
                  <a:srgbClr val="EFDDC1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</a:t>
            </a:r>
            <a:endParaRPr lang="en-US" sz="1275" dirty="0"/>
          </a:p>
        </p:txBody>
      </p:sp>
      <p:pic>
        <p:nvPicPr>
          <p:cNvPr id="7" name="Image 2" descr="https://pitch-assets-ccb95893-de3f-4266-973c-20049231b248.s3.eu-west-1.amazonaws.com/try-pitch-pdf-export-logo.svg">
            <a:hlinkClick r:id="rId5" tooltip=""/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32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905805" y="2712152"/>
            <a:ext cx="3332389" cy="142285"/>
          </a:xfrm>
          <a:prstGeom prst="roundRect">
            <a:avLst>
              <a:gd name="adj" fmla="val -642654"/>
            </a:avLst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4" name="Image 0" descr="https://pitch-assets-ccb95893-de3f-4266-973c-20049231b248.s3.eu-west-1.amazonaws.com/c3eb7a40-2160-4581-bb24-ed3fdd924d4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 rot="19394628">
            <a:off x="7976467" y="-2075160"/>
            <a:ext cx="3235889" cy="4738677"/>
          </a:xfrm>
          <a:prstGeom prst="rect">
            <a:avLst/>
          </a:prstGeom>
        </p:spPr>
      </p:pic>
      <p:pic>
        <p:nvPicPr>
          <p:cNvPr id="5" name="Image 1" descr="https://pitch-assets-ccb95893-de3f-4266-973c-20049231b248.s3.eu-west-1.amazonaws.com/7e81e677-3f44-4aa9-a8fc-77111998c371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 rot="1118631">
            <a:off x="-2015553" y="3839628"/>
            <a:ext cx="3833670" cy="566823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643122" y="2184976"/>
            <a:ext cx="5857756" cy="76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6042"/>
              </a:lnSpc>
            </a:pPr>
            <a:r>
              <a:rPr lang="en-US" sz="5700" b="0" dirty="0">
                <a:solidFill>
                  <a:srgbClr val="FFFFFF"/>
                </a:solidFill>
                <a:latin typeface="Rakkas" pitchFamily="34" charset="0"/>
                <a:ea typeface="Rakkas" pitchFamily="34" charset="-122"/>
                <a:cs typeface="Rakkas" pitchFamily="34" charset="-120"/>
              </a:rPr>
              <a:t>Thank You!</a:t>
            </a:r>
            <a:endParaRPr lang="en-US" sz="5700" dirty="0"/>
          </a:p>
        </p:txBody>
      </p:sp>
      <p:pic>
        <p:nvPicPr>
          <p:cNvPr id="7" name="Image 2" descr="https://pitch-assets-ccb95893-de3f-4266-973c-20049231b248.s3.eu-west-1.amazonaws.com/try-pitch-pdf-export-logo.svg">
            <a:hlinkClick r:id="rId5" tooltip=""/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e77ace16-0c5d-4c12-bf3a-c8e5ee38c03e?pitch-bytes=1023888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2f9e2d8e-590b-4ba5-bf4d-045861e91daa?pitch-bytes=202963&amp;pitch-content-type=image%2F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44376" y="3373067"/>
            <a:ext cx="2856374" cy="457020"/>
          </a:xfrm>
          <a:prstGeom prst="rect">
            <a:avLst/>
          </a:prstGeom>
          <a:effectLst>
            <a:outerShdw sx="100000" sy="100000" kx="0" ky="0" algn="bl" rotWithShape="0" blurRad="152400" dist="50800" dir="378000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SOLID Principles in C#</dc:title>
  <dc:subject>PptxGenJS Presentation</dc:subject>
  <dc:creator>Pitch Software GmbH</dc:creator>
  <cp:lastModifiedBy>Pitch Software GmbH</cp:lastModifiedBy>
  <cp:revision>1</cp:revision>
  <dcterms:created xsi:type="dcterms:W3CDTF">2026-05-02T05:37:03Z</dcterms:created>
  <dcterms:modified xsi:type="dcterms:W3CDTF">2026-05-02T05:37:03Z</dcterms:modified>
</cp:coreProperties>
</file>